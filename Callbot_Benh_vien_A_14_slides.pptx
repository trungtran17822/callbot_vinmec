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6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 type="wide"/>
  <p:notesSz cx="6858000" cy="9144000"/>
  <p:defaultTextStyle>
    <a:defPPr>
      <a:defRPr lang="vi-VN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  <Relationship Id="rId15" Type="http://schemas.openxmlformats.org/officeDocument/2006/relationships/theme" Target="theme/theme1.xml"/>
  <Relationship Id="rId16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1D8C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280000" y="0"/>
            <a:ext cx="2912000" cy="6858000"/>
          </a:xfrm>
          <a:prstGeom prst="rect">
            <a:avLst/>
          </a:prstGeom>
          <a:solidFill>
            <a:srgbClr val="1D8CF8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9700000" y="900000"/>
            <a:ext cx="1200000" cy="1200000"/>
          </a:xfrm>
          <a:prstGeom prst="roundRect">
            <a:avLst/>
          </a:prstGeom>
          <a:solidFill>
            <a:srgbClr val="FFD166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650000" y="4550000"/>
            <a:ext cx="1050000" cy="1050000"/>
          </a:xfrm>
          <a:prstGeom prst="roundRect">
            <a:avLst/>
          </a:prstGeom>
          <a:solidFill>
            <a:srgbClr val="00B8A9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915000" y="760000"/>
            <a:ext cx="1320000" cy="305000"/>
          </a:xfrm>
          <a:prstGeom prst="roundRect">
            <a:avLst/>
          </a:prstGeom>
          <a:solidFill>
            <a:srgbClr val="1D8CF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30000" y="81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150">
                <a:b/>
                <a:solidFill>
                  <a:srgbClr val="FFFFFF"/>
                </a:solidFill>
                <a:latin typeface="Aptos Display"/>
              </a:rPr>
              <a:t>PRODUCT PROPOSAL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20000" y="1400000"/>
            <a:ext cx="8400000" cy="11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4600">
                <a:b/>
                <a:solidFill>
                  <a:srgbClr val="12355B"/>
                </a:solidFill>
                <a:latin typeface="Aptos Display"/>
              </a:rPr>
              <a:t>Callbot cho Bệnh viện A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40000" y="265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2200">
                <a:solidFill>
                  <a:srgbClr val="637083"/>
                </a:solidFill>
                <a:latin typeface="Aptos Display"/>
              </a:rPr>
              <a:t>Tự động hỗ trợ đặt lịch, hủy lịch và nhắc lịch khám cho bệnh nhân</a:t>
            </a:r>
          </a:p>
        </p:txBody>
      </p:sp>
      <p:sp>
        <p:nvSpPr>
          <p:cNvPr id="11" name="Bullets 11"/>
          <p:cNvSpPr txBox="1"/>
          <p:nvPr/>
        </p:nvSpPr>
        <p:spPr>
          <a:xfrm>
            <a:off x="1000000" y="3600000"/>
            <a:ext cx="71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spcFirstLastPara="1"/>
          <a:lstStyle/>
          <a:p>
            <a:pPr marL="342900" indent="-228600">
              <a:buChar char="•"/>
            </a:pPr>
            <a:r>
              <a:rPr lang="vi-VN" sz="2050">
                <a:solidFill>
                  <a:srgbClr val="203040"/>
                </a:solidFill>
                <a:latin typeface="Aptos"/>
              </a:rPr>
              <a:t>Giảm tải cho lễ tân tổng đài</a:t>
            </a:r>
          </a:p>
          <a:p>
            <a:pPr marL="342900" indent="-228600">
              <a:buChar char="•"/>
            </a:pPr>
            <a:r>
              <a:rPr lang="vi-VN" sz="2050">
                <a:solidFill>
                  <a:srgbClr val="203040"/>
                </a:solidFill>
                <a:latin typeface="Aptos"/>
              </a:rPr>
              <a:t>Tăng tốc độ phản hồi cho bệnh nhân</a:t>
            </a:r>
          </a:p>
          <a:p>
            <a:pPr marL="342900" indent="-228600">
              <a:buChar char="•"/>
            </a:pPr>
            <a:r>
              <a:rPr lang="vi-VN" sz="2050">
                <a:solidFill>
                  <a:srgbClr val="203040"/>
                </a:solidFill>
                <a:latin typeface="Aptos"/>
              </a:rPr>
              <a:t>Tích hợp thông báo với App A</a:t>
            </a:r>
          </a:p>
        </p:txBody>
      </p:sp>
      <p:sp>
        <p:nvSpPr>
          <p:cNvPr id="12" name="Shape 12"/>
          <p:cNvSpPr/>
          <p:nvPr/>
        </p:nvSpPr>
        <p:spPr>
          <a:xfrm>
            <a:off x="8050000" y="1750000"/>
            <a:ext cx="2550000" cy="2550000"/>
          </a:xfrm>
          <a:prstGeom prst="round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8350000" y="2450000"/>
            <a:ext cx="195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3000">
                <a:b/>
                <a:solidFill>
                  <a:srgbClr val="1D8CF8"/>
                </a:solidFill>
                <a:latin typeface="Aptos Display"/>
              </a:rPr>
              <a:t>MedicBot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80000" y="612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1250">
                <a:solidFill>
                  <a:srgbClr val="637083"/>
                </a:solidFill>
                <a:latin typeface="Aptos Display"/>
              </a:rPr>
              <a:t>MVP: đặt lịch • hủy lịch • nhắc lịch khám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0150000" y="60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200">
                <a:b/>
                <a:solidFill>
                  <a:srgbClr val="637083"/>
                </a:solidFill>
                <a:latin typeface="Aptos Display"/>
              </a:rPr>
              <a:t>01/14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05000" y="6120000"/>
            <a:ext cx="4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1150">
                <a:solidFill>
                  <a:srgbClr val="637083"/>
                </a:solidFill>
                <a:latin typeface="Aptos Display"/>
              </a:rPr>
              <a:t>Callbot cho Bệnh viện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280000" y="0"/>
            <a:ext cx="2912000" cy="6858000"/>
          </a:xfrm>
          <a:prstGeom prst="rect">
            <a:avLst/>
          </a:prstGeom>
          <a:solidFill>
            <a:srgbClr val="00B8A9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9700000" y="900000"/>
            <a:ext cx="1200000" cy="1200000"/>
          </a:xfrm>
          <a:prstGeom prst="roundRect">
            <a:avLst/>
          </a:prstGeom>
          <a:solidFill>
            <a:srgbClr val="FFD166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650000" y="4550000"/>
            <a:ext cx="1050000" cy="1050000"/>
          </a:xfrm>
          <a:prstGeom prst="roundRect">
            <a:avLst/>
          </a:prstGeom>
          <a:solidFill>
            <a:srgbClr val="00B8A9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915000" y="760000"/>
            <a:ext cx="1320000" cy="305000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30000" y="81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150">
                <a:b/>
                <a:solidFill>
                  <a:srgbClr val="FFFFFF"/>
                </a:solidFill>
                <a:latin typeface="Aptos Display"/>
              </a:rPr>
              <a:t>BỐI CẢNH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00000" y="1220000"/>
            <a:ext cx="845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3500">
                <a:b/>
                <a:solidFill>
                  <a:srgbClr val="12355B"/>
                </a:solidFill>
                <a:latin typeface="Aptos Display"/>
              </a:rPr>
              <a:t>Vấn đề đang đến từ cả hai phía</a:t>
            </a:r>
          </a:p>
        </p:txBody>
      </p:sp>
      <p:sp>
        <p:nvSpPr>
          <p:cNvPr id="10" name="Shape 10"/>
          <p:cNvSpPr/>
          <p:nvPr/>
        </p:nvSpPr>
        <p:spPr>
          <a:xfrm>
            <a:off x="915000" y="2290000"/>
            <a:ext cx="1700000" cy="65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s 11"/>
          <p:cNvSpPr txBox="1"/>
          <p:nvPr/>
        </p:nvSpPr>
        <p:spPr>
          <a:xfrm>
            <a:off x="950000" y="2650000"/>
            <a:ext cx="8500000" cy="2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spcFirstLastPara="1"/>
          <a:lstStyle/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Lễ tân phải xử lý lượng cuộc gọi lớn trong cùng thời điểm.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Bệnh nhân cần thông tin chính xác về khoa, bác sĩ, cơ sở và lịch còn trống.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Thông tin xác nhận dễ bị bỏ sót khi quy trình phụ thuộc nhiều vào thao tác thủ công.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150000" y="60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200">
                <a:b/>
                <a:solidFill>
                  <a:srgbClr val="637083"/>
                </a:solidFill>
                <a:latin typeface="Aptos Display"/>
              </a:rPr>
              <a:t>02/14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05000" y="6120000"/>
            <a:ext cx="4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1150">
                <a:solidFill>
                  <a:srgbClr val="637083"/>
                </a:solidFill>
                <a:latin typeface="Aptos Display"/>
              </a:rPr>
              <a:t>Callbot cho Bệnh viện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280000" y="0"/>
            <a:ext cx="2912000" cy="6858000"/>
          </a:xfrm>
          <a:prstGeom prst="rect">
            <a:avLst/>
          </a:prstGeom>
          <a:solidFill>
            <a:srgbClr val="FF6B6B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9700000" y="900000"/>
            <a:ext cx="1200000" cy="1200000"/>
          </a:xfrm>
          <a:prstGeom prst="roundRect">
            <a:avLst/>
          </a:prstGeom>
          <a:solidFill>
            <a:srgbClr val="FFD166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650000" y="4550000"/>
            <a:ext cx="1050000" cy="1050000"/>
          </a:xfrm>
          <a:prstGeom prst="roundRect">
            <a:avLst/>
          </a:prstGeom>
          <a:solidFill>
            <a:srgbClr val="00B8A9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915000" y="760000"/>
            <a:ext cx="1320000" cy="3050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30000" y="81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150">
                <a:b/>
                <a:solidFill>
                  <a:srgbClr val="FFFFFF"/>
                </a:solidFill>
                <a:latin typeface="Aptos Display"/>
              </a:rPr>
              <a:t>PAIN POINTS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00000" y="1220000"/>
            <a:ext cx="845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3500">
                <a:b/>
                <a:solidFill>
                  <a:srgbClr val="12355B"/>
                </a:solidFill>
                <a:latin typeface="Aptos Display"/>
              </a:rPr>
              <a:t>Lễ tân tổng đài bị quá tải</a:t>
            </a:r>
          </a:p>
        </p:txBody>
      </p:sp>
      <p:sp>
        <p:nvSpPr>
          <p:cNvPr id="10" name="Shape 10"/>
          <p:cNvSpPr/>
          <p:nvPr/>
        </p:nvSpPr>
        <p:spPr>
          <a:xfrm>
            <a:off x="915000" y="2290000"/>
            <a:ext cx="1700000" cy="65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s 11"/>
          <p:cNvSpPr txBox="1"/>
          <p:nvPr/>
        </p:nvSpPr>
        <p:spPr>
          <a:xfrm>
            <a:off x="950000" y="2650000"/>
            <a:ext cx="8500000" cy="2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spcFirstLastPara="1"/>
          <a:lstStyle/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Không xử lý kịp toàn bộ cuộc gọi đến.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Dễ bỏ qua hoặc ghi thiếu thông tin đã xác nhận với khách hàng.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Khó nắm đầy đủ lịch khám của từng khoa, bác sĩ và cơ sở.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Phải dành thời gian cho các cuộc gọi lặp lại, ít phức tạp.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150000" y="60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200">
                <a:b/>
                <a:solidFill>
                  <a:srgbClr val="637083"/>
                </a:solidFill>
                <a:latin typeface="Aptos Display"/>
              </a:rPr>
              <a:t>03/14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05000" y="6120000"/>
            <a:ext cx="4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1150">
                <a:solidFill>
                  <a:srgbClr val="637083"/>
                </a:solidFill>
                <a:latin typeface="Aptos Display"/>
              </a:rPr>
              <a:t>Callbot cho Bệnh viện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280000" y="0"/>
            <a:ext cx="2912000" cy="6858000"/>
          </a:xfrm>
          <a:prstGeom prst="rect">
            <a:avLst/>
          </a:prstGeom>
          <a:solidFill>
            <a:srgbClr val="7B61FF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9700000" y="900000"/>
            <a:ext cx="1200000" cy="1200000"/>
          </a:xfrm>
          <a:prstGeom prst="roundRect">
            <a:avLst/>
          </a:prstGeom>
          <a:solidFill>
            <a:srgbClr val="FFD166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650000" y="4550000"/>
            <a:ext cx="1050000" cy="1050000"/>
          </a:xfrm>
          <a:prstGeom prst="roundRect">
            <a:avLst/>
          </a:prstGeom>
          <a:solidFill>
            <a:srgbClr val="00B8A9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915000" y="760000"/>
            <a:ext cx="1320000" cy="305000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30000" y="81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150">
                <a:b/>
                <a:solidFill>
                  <a:srgbClr val="FFFFFF"/>
                </a:solidFill>
                <a:latin typeface="Aptos Display"/>
              </a:rPr>
              <a:t>PAIN POINTS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00000" y="1220000"/>
            <a:ext cx="845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3500">
                <a:b/>
                <a:solidFill>
                  <a:srgbClr val="12355B"/>
                </a:solidFill>
                <a:latin typeface="Aptos Display"/>
              </a:rPr>
              <a:t>Bệnh nhân chờ lâu và thiếu chắc chắn</a:t>
            </a:r>
          </a:p>
        </p:txBody>
      </p:sp>
      <p:sp>
        <p:nvSpPr>
          <p:cNvPr id="10" name="Shape 10"/>
          <p:cNvSpPr/>
          <p:nvPr/>
        </p:nvSpPr>
        <p:spPr>
          <a:xfrm>
            <a:off x="915000" y="2290000"/>
            <a:ext cx="1700000" cy="65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s 11"/>
          <p:cNvSpPr txBox="1"/>
          <p:nvPr/>
        </p:nvSpPr>
        <p:spPr>
          <a:xfrm>
            <a:off x="950000" y="2650000"/>
            <a:ext cx="8500000" cy="2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spcFirstLastPara="1"/>
          <a:lstStyle/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Có thể phải chờ rất lâu khi tổng đài quá tải.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Thông tin đăng ký có nguy cơ bị bỏ qua hoặc xác nhận thiếu.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Không rõ nên khám khoa nào, ở đâu, bác sĩ nào phụ trách.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Trải nghiệm đặt lịch ảnh hưởng trực tiếp đến niềm tin với bệnh viện.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150000" y="60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200">
                <a:b/>
                <a:solidFill>
                  <a:srgbClr val="637083"/>
                </a:solidFill>
                <a:latin typeface="Aptos Display"/>
              </a:rPr>
              <a:t>04/14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05000" y="6120000"/>
            <a:ext cx="4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1150">
                <a:solidFill>
                  <a:srgbClr val="637083"/>
                </a:solidFill>
                <a:latin typeface="Aptos Display"/>
              </a:rPr>
              <a:t>Callbot cho Bệnh viện 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280000" y="0"/>
            <a:ext cx="2912000" cy="6858000"/>
          </a:xfrm>
          <a:prstGeom prst="rect">
            <a:avLst/>
          </a:prstGeom>
          <a:solidFill>
            <a:srgbClr val="FFD166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9700000" y="900000"/>
            <a:ext cx="1200000" cy="1200000"/>
          </a:xfrm>
          <a:prstGeom prst="roundRect">
            <a:avLst/>
          </a:prstGeom>
          <a:solidFill>
            <a:srgbClr val="FFD166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650000" y="4550000"/>
            <a:ext cx="1050000" cy="1050000"/>
          </a:xfrm>
          <a:prstGeom prst="roundRect">
            <a:avLst/>
          </a:prstGeom>
          <a:solidFill>
            <a:srgbClr val="00B8A9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915000" y="760000"/>
            <a:ext cx="1320000" cy="30500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30000" y="81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150">
                <a:b/>
                <a:solidFill>
                  <a:srgbClr val="FFFFFF"/>
                </a:solidFill>
                <a:latin typeface="Aptos Display"/>
              </a:rPr>
              <a:t>TÁC ĐỘNG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00000" y="1220000"/>
            <a:ext cx="845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3500">
                <a:b/>
                <a:solidFill>
                  <a:srgbClr val="12355B"/>
                </a:solidFill>
                <a:latin typeface="Aptos Display"/>
              </a:rPr>
              <a:t>Vấn đề quan trọng vì xảy ra thường xuyên</a:t>
            </a:r>
          </a:p>
        </p:txBody>
      </p:sp>
      <p:sp>
        <p:nvSpPr>
          <p:cNvPr id="10" name="Shape 10"/>
          <p:cNvSpPr/>
          <p:nvPr/>
        </p:nvSpPr>
        <p:spPr>
          <a:xfrm>
            <a:off x="915000" y="2290000"/>
            <a:ext cx="1700000" cy="65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s 11"/>
          <p:cNvSpPr txBox="1"/>
          <p:nvPr/>
        </p:nvSpPr>
        <p:spPr>
          <a:xfrm>
            <a:off x="950000" y="2650000"/>
            <a:ext cx="8500000" cy="2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spcFirstLastPara="1"/>
          <a:lstStyle/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Chờ lâu tạo cảm giác ức chế và làm giảm sự hài lòng.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Bỏ sót thông tin làm bệnh nhân mất niềm tin khi cần chăm sóc y tế.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Thiếu hướng dẫn trước khi khám khiến hành trình bệnh nhân kém rõ ràng.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Rủi ro mất nhóm khách hàng thân thiết và ảnh hưởng doanh thu bệnh viện.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150000" y="60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200">
                <a:b/>
                <a:solidFill>
                  <a:srgbClr val="637083"/>
                </a:solidFill>
                <a:latin typeface="Aptos Display"/>
              </a:rPr>
              <a:t>05/14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05000" y="6120000"/>
            <a:ext cx="4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1150">
                <a:solidFill>
                  <a:srgbClr val="637083"/>
                </a:solidFill>
                <a:latin typeface="Aptos Display"/>
              </a:rPr>
              <a:t>Callbot cho Bệnh viện 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280000" y="0"/>
            <a:ext cx="2912000" cy="6858000"/>
          </a:xfrm>
          <a:prstGeom prst="rect">
            <a:avLst/>
          </a:prstGeom>
          <a:solidFill>
            <a:srgbClr val="3BB273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9700000" y="900000"/>
            <a:ext cx="1200000" cy="1200000"/>
          </a:xfrm>
          <a:prstGeom prst="roundRect">
            <a:avLst/>
          </a:prstGeom>
          <a:solidFill>
            <a:srgbClr val="FFD166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650000" y="4550000"/>
            <a:ext cx="1050000" cy="1050000"/>
          </a:xfrm>
          <a:prstGeom prst="roundRect">
            <a:avLst/>
          </a:prstGeom>
          <a:solidFill>
            <a:srgbClr val="00B8A9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915000" y="760000"/>
            <a:ext cx="1320000" cy="305000"/>
          </a:xfrm>
          <a:prstGeom prst="roundRect">
            <a:avLst/>
          </a:prstGeom>
          <a:solidFill>
            <a:srgbClr val="3BB2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30000" y="81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150">
                <a:b/>
                <a:solidFill>
                  <a:srgbClr val="FFFFFF"/>
                </a:solidFill>
                <a:latin typeface="Aptos Display"/>
              </a:rPr>
              <a:t>HÀNH VI HIỆN TẠI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00000" y="1220000"/>
            <a:ext cx="845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3500">
                <a:b/>
                <a:solidFill>
                  <a:srgbClr val="12355B"/>
                </a:solidFill>
                <a:latin typeface="Aptos Display"/>
              </a:rPr>
              <a:t>Người dùng đang tự xoay sở</a:t>
            </a:r>
          </a:p>
        </p:txBody>
      </p:sp>
      <p:sp>
        <p:nvSpPr>
          <p:cNvPr id="10" name="Shape 10"/>
          <p:cNvSpPr/>
          <p:nvPr/>
        </p:nvSpPr>
        <p:spPr>
          <a:xfrm>
            <a:off x="915000" y="2290000"/>
            <a:ext cx="1700000" cy="650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s 11"/>
          <p:cNvSpPr txBox="1"/>
          <p:nvPr/>
        </p:nvSpPr>
        <p:spPr>
          <a:xfrm>
            <a:off x="950000" y="2650000"/>
            <a:ext cx="8500000" cy="2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spcFirstLastPara="1"/>
          <a:lstStyle/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Đến bệnh viện đặt lịch trực tiếp để tránh bị bỏ sót thông tin.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Chuyển sang đăng ký khám ở bệnh viện khác.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Một số trường hợp hiếm gọi trực tiếp cho bác sĩ để hỏi lịch.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150000" y="60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200">
                <a:b/>
                <a:solidFill>
                  <a:srgbClr val="637083"/>
                </a:solidFill>
                <a:latin typeface="Aptos Display"/>
              </a:rPr>
              <a:t>06/14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05000" y="6120000"/>
            <a:ext cx="4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1150">
                <a:solidFill>
                  <a:srgbClr val="637083"/>
                </a:solidFill>
                <a:latin typeface="Aptos Display"/>
              </a:rPr>
              <a:t>Callbot cho Bệnh viện 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1D8C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280000" y="0"/>
            <a:ext cx="2912000" cy="6858000"/>
          </a:xfrm>
          <a:prstGeom prst="rect">
            <a:avLst/>
          </a:prstGeom>
          <a:solidFill>
            <a:srgbClr val="1D8CF8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9700000" y="900000"/>
            <a:ext cx="1200000" cy="1200000"/>
          </a:xfrm>
          <a:prstGeom prst="roundRect">
            <a:avLst/>
          </a:prstGeom>
          <a:solidFill>
            <a:srgbClr val="FFD166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650000" y="4550000"/>
            <a:ext cx="1050000" cy="1050000"/>
          </a:xfrm>
          <a:prstGeom prst="roundRect">
            <a:avLst/>
          </a:prstGeom>
          <a:solidFill>
            <a:srgbClr val="00B8A9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915000" y="760000"/>
            <a:ext cx="1320000" cy="305000"/>
          </a:xfrm>
          <a:prstGeom prst="roundRect">
            <a:avLst/>
          </a:prstGeom>
          <a:solidFill>
            <a:srgbClr val="1D8CF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30000" y="81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150">
                <a:b/>
                <a:solidFill>
                  <a:srgbClr val="FFFFFF"/>
                </a:solidFill>
                <a:latin typeface="Aptos Display"/>
              </a:rPr>
              <a:t>KHOẢNG TRỐNG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00000" y="1220000"/>
            <a:ext cx="845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3500">
                <a:b/>
                <a:solidFill>
                  <a:srgbClr val="12355B"/>
                </a:solidFill>
                <a:latin typeface="Aptos Display"/>
              </a:rPr>
              <a:t>Các cách hiện tại đều có điểm yếu</a:t>
            </a:r>
          </a:p>
        </p:txBody>
      </p:sp>
      <p:sp>
        <p:nvSpPr>
          <p:cNvPr id="10" name="Shape 10"/>
          <p:cNvSpPr/>
          <p:nvPr/>
        </p:nvSpPr>
        <p:spPr>
          <a:xfrm>
            <a:off x="915000" y="2290000"/>
            <a:ext cx="1700000" cy="65000"/>
          </a:xfrm>
          <a:prstGeom prst="rect">
            <a:avLst/>
          </a:prstGeom>
          <a:solidFill>
            <a:srgbClr val="1D8C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s 11"/>
          <p:cNvSpPr txBox="1"/>
          <p:nvPr/>
        </p:nvSpPr>
        <p:spPr>
          <a:xfrm>
            <a:off x="950000" y="2650000"/>
            <a:ext cx="8500000" cy="2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spcFirstLastPara="1"/>
          <a:lstStyle/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Đặt lịch trực tiếp vẫn phải chờ và tốn thời gian di chuyển.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Chọn bệnh viện khác có thể làm bệnh nhân mất cơ hội sử dụng dịch vụ tốt hơn.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Không phải bác sĩ nào cũng sẵn sàng chia sẻ số điện thoại cá nhân.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Quy trình thiếu một kênh phản hồi nhất quán, nhanh và có kiểm soát.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150000" y="60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200">
                <a:b/>
                <a:solidFill>
                  <a:srgbClr val="637083"/>
                </a:solidFill>
                <a:latin typeface="Aptos Display"/>
              </a:rPr>
              <a:t>07/14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05000" y="6120000"/>
            <a:ext cx="4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1150">
                <a:solidFill>
                  <a:srgbClr val="637083"/>
                </a:solidFill>
                <a:latin typeface="Aptos Display"/>
              </a:rPr>
              <a:t>Callbot cho Bệnh viện 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280000" y="0"/>
            <a:ext cx="2912000" cy="6858000"/>
          </a:xfrm>
          <a:prstGeom prst="rect">
            <a:avLst/>
          </a:prstGeom>
          <a:solidFill>
            <a:srgbClr val="00B8A9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9700000" y="900000"/>
            <a:ext cx="1200000" cy="1200000"/>
          </a:xfrm>
          <a:prstGeom prst="roundRect">
            <a:avLst/>
          </a:prstGeom>
          <a:solidFill>
            <a:srgbClr val="FFD166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650000" y="4550000"/>
            <a:ext cx="1050000" cy="1050000"/>
          </a:xfrm>
          <a:prstGeom prst="roundRect">
            <a:avLst/>
          </a:prstGeom>
          <a:solidFill>
            <a:srgbClr val="00B8A9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915000" y="760000"/>
            <a:ext cx="1320000" cy="305000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30000" y="81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150">
                <a:b/>
                <a:solidFill>
                  <a:srgbClr val="FFFFFF"/>
                </a:solidFill>
                <a:latin typeface="Aptos Display"/>
              </a:rPr>
              <a:t>PRODUCT VISION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00000" y="1220000"/>
            <a:ext cx="845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3500">
                <a:b/>
                <a:solidFill>
                  <a:srgbClr val="12355B"/>
                </a:solidFill>
                <a:latin typeface="Aptos Display"/>
              </a:rPr>
              <a:t>Từ Callbot đến hệ sinh thái MedicBot</a:t>
            </a:r>
          </a:p>
        </p:txBody>
      </p:sp>
      <p:sp>
        <p:nvSpPr>
          <p:cNvPr id="10" name="Shape 10"/>
          <p:cNvSpPr/>
          <p:nvPr/>
        </p:nvSpPr>
        <p:spPr>
          <a:xfrm>
            <a:off x="915000" y="2290000"/>
            <a:ext cx="1700000" cy="65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s 11"/>
          <p:cNvSpPr txBox="1"/>
          <p:nvPr/>
        </p:nvSpPr>
        <p:spPr>
          <a:xfrm>
            <a:off x="950000" y="2650000"/>
            <a:ext cx="8500000" cy="2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spcFirstLastPara="1"/>
          <a:lstStyle/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Giai đoạn đầu: đặt lịch, hủy lịch, nhắc lịch và gửi lưu ý trước khám.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Tương lai: sàng lọc bệnh nhân và tư vấn ban đầu theo phạm vi được duyệt.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Mở rộng: chăm sóc và theo dõi sau khám.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Mục tiêu dài hạn: kênh hỗ trợ thông tin y tế 24/7 cho bệnh viện.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150000" y="60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200">
                <a:b/>
                <a:solidFill>
                  <a:srgbClr val="637083"/>
                </a:solidFill>
                <a:latin typeface="Aptos Display"/>
              </a:rPr>
              <a:t>08/14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05000" y="6120000"/>
            <a:ext cx="4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1150">
                <a:solidFill>
                  <a:srgbClr val="637083"/>
                </a:solidFill>
                <a:latin typeface="Aptos Display"/>
              </a:rPr>
              <a:t>Callbot cho Bệnh viện 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280000" y="0"/>
            <a:ext cx="2912000" cy="6858000"/>
          </a:xfrm>
          <a:prstGeom prst="rect">
            <a:avLst/>
          </a:prstGeom>
          <a:solidFill>
            <a:srgbClr val="3BB273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9700000" y="900000"/>
            <a:ext cx="1200000" cy="1200000"/>
          </a:xfrm>
          <a:prstGeom prst="roundRect">
            <a:avLst/>
          </a:prstGeom>
          <a:solidFill>
            <a:srgbClr val="FFD166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650000" y="4550000"/>
            <a:ext cx="1050000" cy="1050000"/>
          </a:xfrm>
          <a:prstGeom prst="roundRect">
            <a:avLst/>
          </a:prstGeom>
          <a:solidFill>
            <a:srgbClr val="00B8A9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915000" y="760000"/>
            <a:ext cx="1320000" cy="305000"/>
          </a:xfrm>
          <a:prstGeom prst="roundRect">
            <a:avLst/>
          </a:prstGeom>
          <a:solidFill>
            <a:srgbClr val="3BB2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30000" y="81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150">
                <a:b/>
                <a:solidFill>
                  <a:srgbClr val="FFFFFF"/>
                </a:solidFill>
                <a:latin typeface="Aptos Display"/>
              </a:rPr>
              <a:t>VALUE PROPOSITION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00000" y="1220000"/>
            <a:ext cx="845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3500">
                <a:b/>
                <a:solidFill>
                  <a:srgbClr val="12355B"/>
                </a:solidFill>
                <a:latin typeface="Aptos Display"/>
              </a:rPr>
              <a:t>Giá trị mang lại cho bệnh viện và bệnh nhân</a:t>
            </a:r>
          </a:p>
        </p:txBody>
      </p:sp>
      <p:sp>
        <p:nvSpPr>
          <p:cNvPr id="10" name="Shape 10"/>
          <p:cNvSpPr/>
          <p:nvPr/>
        </p:nvSpPr>
        <p:spPr>
          <a:xfrm>
            <a:off x="915000" y="2290000"/>
            <a:ext cx="1700000" cy="650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s 11"/>
          <p:cNvSpPr txBox="1"/>
          <p:nvPr/>
        </p:nvSpPr>
        <p:spPr>
          <a:xfrm>
            <a:off x="950000" y="2650000"/>
            <a:ext cx="8500000" cy="2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spcFirstLastPara="1"/>
          <a:lstStyle/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Hỗ trợ tất cả bệnh nhân trong thời gian ngắn hơn.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Giảm tình trạng bệnh nhân không biết khoa, phòng, bác sĩ hoặc cơ sở khám.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Lễ tân tập trung vào các cuộc gọi cần xử lý chuyên sâu.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Tăng tỷ lệ phản hồi tốt và chất lượng chăm sóc khách hàng.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150000" y="60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200">
                <a:b/>
                <a:solidFill>
                  <a:srgbClr val="637083"/>
                </a:solidFill>
                <a:latin typeface="Aptos Display"/>
              </a:rPr>
              <a:t>09/14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05000" y="6120000"/>
            <a:ext cx="4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1150">
                <a:solidFill>
                  <a:srgbClr val="637083"/>
                </a:solidFill>
                <a:latin typeface="Aptos Display"/>
              </a:rPr>
              <a:t>Callbot cho Bệnh viện 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280000" y="0"/>
            <a:ext cx="2912000" cy="6858000"/>
          </a:xfrm>
          <a:prstGeom prst="rect">
            <a:avLst/>
          </a:prstGeom>
          <a:solidFill>
            <a:srgbClr val="7B61FF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9700000" y="900000"/>
            <a:ext cx="1200000" cy="1200000"/>
          </a:xfrm>
          <a:prstGeom prst="roundRect">
            <a:avLst/>
          </a:prstGeom>
          <a:solidFill>
            <a:srgbClr val="FFD166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650000" y="4550000"/>
            <a:ext cx="1050000" cy="1050000"/>
          </a:xfrm>
          <a:prstGeom prst="roundRect">
            <a:avLst/>
          </a:prstGeom>
          <a:solidFill>
            <a:srgbClr val="00B8A9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915000" y="760000"/>
            <a:ext cx="1320000" cy="305000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30000" y="81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150">
                <a:b/>
                <a:solidFill>
                  <a:srgbClr val="FFFFFF"/>
                </a:solidFill>
                <a:latin typeface="Aptos Display"/>
              </a:rPr>
              <a:t>KIẾN TRÚC SẢN PHẨM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00000" y="1220000"/>
            <a:ext cx="845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3500">
                <a:b/>
                <a:solidFill>
                  <a:srgbClr val="12355B"/>
                </a:solidFill>
                <a:latin typeface="Aptos Display"/>
              </a:rPr>
              <a:t>Hai hướng phát triển song song</a:t>
            </a:r>
          </a:p>
        </p:txBody>
      </p:sp>
      <p:sp>
        <p:nvSpPr>
          <p:cNvPr id="10" name="Shape 10"/>
          <p:cNvSpPr/>
          <p:nvPr/>
        </p:nvSpPr>
        <p:spPr>
          <a:xfrm>
            <a:off x="915000" y="2290000"/>
            <a:ext cx="1700000" cy="65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s 11"/>
          <p:cNvSpPr txBox="1"/>
          <p:nvPr/>
        </p:nvSpPr>
        <p:spPr>
          <a:xfrm>
            <a:off x="950000" y="2650000"/>
            <a:ext cx="8500000" cy="2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spcFirstLastPara="1"/>
          <a:lstStyle/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Rule-based: chạy đúng kịch bản, phù hợp các luồng đơn giản và dễ kiểm soát.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Agent: linh hoạt hơn với hội thoại tự nhiên và truy vấn thông tin theo ngữ cảnh.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Cách tiếp cận song song giúp team so sánh độ ổn định, trải nghiệm và phạm vi xử lý.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150000" y="60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200">
                <a:b/>
                <a:solidFill>
                  <a:srgbClr val="637083"/>
                </a:solidFill>
                <a:latin typeface="Aptos Display"/>
              </a:rPr>
              <a:t>10/14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05000" y="6120000"/>
            <a:ext cx="4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1150">
                <a:solidFill>
                  <a:srgbClr val="637083"/>
                </a:solidFill>
                <a:latin typeface="Aptos Display"/>
              </a:rPr>
              <a:t>Callbot cho Bệnh viện 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280000" y="0"/>
            <a:ext cx="2912000" cy="6858000"/>
          </a:xfrm>
          <a:prstGeom prst="rect">
            <a:avLst/>
          </a:prstGeom>
          <a:solidFill>
            <a:srgbClr val="FF6B6B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9700000" y="900000"/>
            <a:ext cx="1200000" cy="1200000"/>
          </a:xfrm>
          <a:prstGeom prst="roundRect">
            <a:avLst/>
          </a:prstGeom>
          <a:solidFill>
            <a:srgbClr val="FFD166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650000" y="4550000"/>
            <a:ext cx="1050000" cy="1050000"/>
          </a:xfrm>
          <a:prstGeom prst="roundRect">
            <a:avLst/>
          </a:prstGeom>
          <a:solidFill>
            <a:srgbClr val="00B8A9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915000" y="760000"/>
            <a:ext cx="1320000" cy="3050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30000" y="81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150">
                <a:b/>
                <a:solidFill>
                  <a:srgbClr val="FFFFFF"/>
                </a:solidFill>
                <a:latin typeface="Aptos Display"/>
              </a:rPr>
              <a:t>LÝ DO CẦN AGENT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00000" y="1220000"/>
            <a:ext cx="845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3500">
                <a:b/>
                <a:solidFill>
                  <a:srgbClr val="12355B"/>
                </a:solidFill>
                <a:latin typeface="Aptos Display"/>
              </a:rPr>
              <a:t>Rule-based khó bao phủ tình huống thực tế</a:t>
            </a:r>
          </a:p>
        </p:txBody>
      </p:sp>
      <p:sp>
        <p:nvSpPr>
          <p:cNvPr id="10" name="Shape 10"/>
          <p:cNvSpPr/>
          <p:nvPr/>
        </p:nvSpPr>
        <p:spPr>
          <a:xfrm>
            <a:off x="915000" y="2290000"/>
            <a:ext cx="1700000" cy="65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s 11"/>
          <p:cNvSpPr txBox="1"/>
          <p:nvPr/>
        </p:nvSpPr>
        <p:spPr>
          <a:xfrm>
            <a:off x="950000" y="2650000"/>
            <a:ext cx="8500000" cy="2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spcFirstLastPara="1"/>
          <a:lstStyle/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Trùng họ tên và ngày sinh có thể gây nhầm định danh bệnh nhân.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Bệnh nhân có thể chỉ nhớ năm sinh hoặc đọc năm sinh rút gọn.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Câu trả lời theo script dễ thiếu tự nhiên.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Người gọi thường hỏi thêm về khoa khám, cơ sở gần nhất hoặc lịch còn trống.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150000" y="60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200">
                <a:b/>
                <a:solidFill>
                  <a:srgbClr val="637083"/>
                </a:solidFill>
                <a:latin typeface="Aptos Display"/>
              </a:rPr>
              <a:t>11/14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05000" y="6120000"/>
            <a:ext cx="4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1150">
                <a:solidFill>
                  <a:srgbClr val="637083"/>
                </a:solidFill>
                <a:latin typeface="Aptos Display"/>
              </a:rPr>
              <a:t>Callbot cho Bệnh viện 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1D8C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280000" y="0"/>
            <a:ext cx="2912000" cy="6858000"/>
          </a:xfrm>
          <a:prstGeom prst="rect">
            <a:avLst/>
          </a:prstGeom>
          <a:solidFill>
            <a:srgbClr val="1D8CF8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9700000" y="900000"/>
            <a:ext cx="1200000" cy="1200000"/>
          </a:xfrm>
          <a:prstGeom prst="roundRect">
            <a:avLst/>
          </a:prstGeom>
          <a:solidFill>
            <a:srgbClr val="FFD166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650000" y="4550000"/>
            <a:ext cx="1050000" cy="1050000"/>
          </a:xfrm>
          <a:prstGeom prst="roundRect">
            <a:avLst/>
          </a:prstGeom>
          <a:solidFill>
            <a:srgbClr val="00B8A9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915000" y="760000"/>
            <a:ext cx="1320000" cy="305000"/>
          </a:xfrm>
          <a:prstGeom prst="roundRect">
            <a:avLst/>
          </a:prstGeom>
          <a:solidFill>
            <a:srgbClr val="1D8CF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30000" y="81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150">
                <a:b/>
                <a:solidFill>
                  <a:srgbClr val="FFFFFF"/>
                </a:solidFill>
                <a:latin typeface="Aptos Display"/>
              </a:rPr>
              <a:t>VOICE AI &amp; DỮ LIỆU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00000" y="1220000"/>
            <a:ext cx="845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3500">
                <a:b/>
                <a:solidFill>
                  <a:srgbClr val="12355B"/>
                </a:solidFill>
                <a:latin typeface="Aptos Display"/>
              </a:rPr>
              <a:t>Nền tảng giọng nói và quyền riêng tư</a:t>
            </a:r>
          </a:p>
        </p:txBody>
      </p:sp>
      <p:sp>
        <p:nvSpPr>
          <p:cNvPr id="10" name="Shape 10"/>
          <p:cNvSpPr/>
          <p:nvPr/>
        </p:nvSpPr>
        <p:spPr>
          <a:xfrm>
            <a:off x="915000" y="2290000"/>
            <a:ext cx="1700000" cy="65000"/>
          </a:xfrm>
          <a:prstGeom prst="rect">
            <a:avLst/>
          </a:prstGeom>
          <a:solidFill>
            <a:srgbClr val="1D8C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s 11"/>
          <p:cNvSpPr txBox="1"/>
          <p:nvPr/>
        </p:nvSpPr>
        <p:spPr>
          <a:xfrm>
            <a:off x="950000" y="2650000"/>
            <a:ext cx="8500000" cy="2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spcFirstLastPara="1"/>
          <a:lstStyle/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Speech-to-text: team đang ưu tiên nghiên cứu model VinAI.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Text-to-speech: lựa chọn ban đầu là FPT.AI do hiệu năng tốt trong khảo sát.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Đã so sánh với các lựa chọn như ViettelAI, VNPTAI và Vieneu.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Dữ liệu y tế là dữ liệu nhạy cảm, nên privacy là yêu cầu kỹ thuật bắt buộc.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150000" y="60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200">
                <a:b/>
                <a:solidFill>
                  <a:srgbClr val="637083"/>
                </a:solidFill>
                <a:latin typeface="Aptos Display"/>
              </a:rPr>
              <a:t>12/14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05000" y="6120000"/>
            <a:ext cx="4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1150">
                <a:solidFill>
                  <a:srgbClr val="637083"/>
                </a:solidFill>
                <a:latin typeface="Aptos Display"/>
              </a:rPr>
              <a:t>Callbot cho Bệnh viện 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280000" y="0"/>
            <a:ext cx="2912000" cy="6858000"/>
          </a:xfrm>
          <a:prstGeom prst="rect">
            <a:avLst/>
          </a:prstGeom>
          <a:solidFill>
            <a:srgbClr val="00B8A9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9700000" y="900000"/>
            <a:ext cx="1200000" cy="1200000"/>
          </a:xfrm>
          <a:prstGeom prst="roundRect">
            <a:avLst/>
          </a:prstGeom>
          <a:solidFill>
            <a:srgbClr val="FFD166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650000" y="4550000"/>
            <a:ext cx="1050000" cy="1050000"/>
          </a:xfrm>
          <a:prstGeom prst="roundRect">
            <a:avLst/>
          </a:prstGeom>
          <a:solidFill>
            <a:srgbClr val="00B8A9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915000" y="760000"/>
            <a:ext cx="1320000" cy="305000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30000" y="81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150">
                <a:b/>
                <a:solidFill>
                  <a:srgbClr val="FFFFFF"/>
                </a:solidFill>
                <a:latin typeface="Aptos Display"/>
              </a:rPr>
              <a:t>TÍCH HỢP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00000" y="1220000"/>
            <a:ext cx="845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3500">
                <a:b/>
                <a:solidFill>
                  <a:srgbClr val="12355B"/>
                </a:solidFill>
                <a:latin typeface="Aptos Display"/>
              </a:rPr>
              <a:t>Callbot kết nối với App A và lịch khám</a:t>
            </a:r>
          </a:p>
        </p:txBody>
      </p:sp>
      <p:sp>
        <p:nvSpPr>
          <p:cNvPr id="10" name="Shape 10"/>
          <p:cNvSpPr/>
          <p:nvPr/>
        </p:nvSpPr>
        <p:spPr>
          <a:xfrm>
            <a:off x="915000" y="2290000"/>
            <a:ext cx="1700000" cy="65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s 11"/>
          <p:cNvSpPr txBox="1"/>
          <p:nvPr/>
        </p:nvSpPr>
        <p:spPr>
          <a:xfrm>
            <a:off x="950000" y="2650000"/>
            <a:ext cx="8500000" cy="2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spcFirstLastPara="1"/>
          <a:lstStyle/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Gửi xác nhận đặt lịch, hủy lịch hoặc thay đổi lịch khám qua App A.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Gửi lưu ý cần thiết trước khi bệnh nhân đi khám.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Truy cập lịch bác sĩ theo khoa, cơ sở và khung giờ còn trống.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Với agent, có thể gửi thông báo bệnh nhân đến bác sĩ sau khi đặt lịch.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150000" y="60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200">
                <a:b/>
                <a:solidFill>
                  <a:srgbClr val="637083"/>
                </a:solidFill>
                <a:latin typeface="Aptos Display"/>
              </a:rPr>
              <a:t>13/14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05000" y="6120000"/>
            <a:ext cx="4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1150">
                <a:solidFill>
                  <a:srgbClr val="637083"/>
                </a:solidFill>
                <a:latin typeface="Aptos Display"/>
              </a:rPr>
              <a:t>Callbot cho Bệnh viện 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280000" y="0"/>
            <a:ext cx="2912000" cy="6858000"/>
          </a:xfrm>
          <a:prstGeom prst="rect">
            <a:avLst/>
          </a:prstGeom>
          <a:solidFill>
            <a:srgbClr val="FF6B6B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9700000" y="900000"/>
            <a:ext cx="1200000" cy="1200000"/>
          </a:xfrm>
          <a:prstGeom prst="roundRect">
            <a:avLst/>
          </a:prstGeom>
          <a:solidFill>
            <a:srgbClr val="FFD166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0650000" y="4550000"/>
            <a:ext cx="1050000" cy="1050000"/>
          </a:xfrm>
          <a:prstGeom prst="roundRect">
            <a:avLst/>
          </a:prstGeom>
          <a:solidFill>
            <a:srgbClr val="00B8A9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915000" y="760000"/>
            <a:ext cx="1320000" cy="3050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30000" y="81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150">
                <a:b/>
                <a:solidFill>
                  <a:srgbClr val="FFFFFF"/>
                </a:solidFill>
                <a:latin typeface="Aptos Display"/>
              </a:rPr>
              <a:t>GUARDRAILS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00000" y="1220000"/>
            <a:ext cx="845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3500">
                <a:b/>
                <a:solidFill>
                  <a:srgbClr val="12355B"/>
                </a:solidFill>
                <a:latin typeface="Aptos Display"/>
              </a:rPr>
              <a:t>Ranh giới an toàn và bước tiếp theo</a:t>
            </a:r>
          </a:p>
        </p:txBody>
      </p:sp>
      <p:sp>
        <p:nvSpPr>
          <p:cNvPr id="10" name="Shape 10"/>
          <p:cNvSpPr/>
          <p:nvPr/>
        </p:nvSpPr>
        <p:spPr>
          <a:xfrm>
            <a:off x="915000" y="2290000"/>
            <a:ext cx="1700000" cy="65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s 11"/>
          <p:cNvSpPr txBox="1"/>
          <p:nvPr/>
        </p:nvSpPr>
        <p:spPr>
          <a:xfrm>
            <a:off x="950000" y="2650000"/>
            <a:ext cx="8500000" cy="2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spcFirstLastPara="1"/>
          <a:lstStyle/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Không tự chẩn đoán, khám bệnh, kê đơn hoặc kết luận y khoa.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Không thay thế bác sĩ trong bất kỳ quyết định chuyên môn nào.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Chỉ cung cấp nội dung y khoa đã được bệnh viện phê duyệt.</a:t>
            </a:r>
          </a:p>
          <a:p>
            <a:pPr marL="342900" indent="-228600">
              <a:buChar char="•"/>
            </a:pPr>
            <a:r>
              <a:rPr lang="vi-VN" sz="2020">
                <a:solidFill>
                  <a:srgbClr val="203040"/>
                </a:solidFill>
                <a:latin typeface="Aptos"/>
              </a:rPr>
              <a:t>Tiếp tục hoàn thiện UI, đo lường vận hành và chốt phạm vi MVP.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150000" y="60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vi-VN" sz="1200">
                <a:b/>
                <a:solidFill>
                  <a:srgbClr val="637083"/>
                </a:solidFill>
                <a:latin typeface="Aptos Display"/>
              </a:rPr>
              <a:t>14/14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05000" y="6120000"/>
            <a:ext cx="4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vi-VN" sz="1150">
                <a:solidFill>
                  <a:srgbClr val="637083"/>
                </a:solidFill>
                <a:latin typeface="Aptos Display"/>
              </a:rPr>
              <a:t>Callbot cho Bệnh viện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ight Professional">
  <a:themeElements>
    <a:clrScheme name="Bright Professional">
      <a:dk1>
        <a:srgbClr val="12355B"/>
      </a:dk1>
      <a:lt1>
        <a:srgbClr val="FFFFFF"/>
      </a:lt1>
      <a:dk2>
        <a:srgbClr val="203040"/>
      </a:dk2>
      <a:lt2>
        <a:srgbClr val="F7FBFF"/>
      </a:lt2>
      <a:accent1>
        <a:srgbClr val="1D8CF8"/>
      </a:accent1>
      <a:accent2>
        <a:srgbClr val="00B8A9"/>
      </a:accent2>
      <a:accent3>
        <a:srgbClr val="FF6B6B"/>
      </a:accent3>
      <a:accent4>
        <a:srgbClr val="FFD166"/>
      </a:accent4>
      <a:accent5>
        <a:srgbClr val="3BB273"/>
      </a:accent5>
      <a:accent6>
        <a:srgbClr val="7B61FF"/>
      </a:accent6>
      <a:hlink>
        <a:srgbClr val="1D8CF8"/>
      </a:hlink>
      <a:folHlink>
        <a:srgbClr val="7B61FF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Callbot cho Bệnh viện A</dc:title>
  <dc:creator>Codex</dc:creator>
  <cp:keywords>callbot, hospital, MedicBot</cp:keywords>
  <dc:description>14-slide presentation based on the provided documentation.</dc:description>
</cp:coreProperties>
</file>